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419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Insights Assistant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21488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GenAI-Powered Multi-Agent Analytics System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0" y="2697480"/>
            <a:ext cx="27432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0175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1E4F72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0175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39696" y="30175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1E4F72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39696" y="30175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22192" y="30175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1E4F72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22192" y="30175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04688" y="30175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1E4F72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04688" y="30175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87184" y="3017520"/>
            <a:ext cx="1463040" cy="347472"/>
          </a:xfrm>
          <a:prstGeom prst="roundRect">
            <a:avLst>
              <a:gd name="adj" fmla="val 13158"/>
            </a:avLst>
          </a:prstGeom>
          <a:solidFill>
            <a:srgbClr val="1E4F72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87184" y="30175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— Gaurav Anand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Overview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— Gaurav Anand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685800"/>
            <a:ext cx="1371600" cy="640080"/>
          </a:xfrm>
          <a:prstGeom prst="rect">
            <a:avLst/>
          </a:prstGeom>
          <a:solidFill>
            <a:srgbClr val="FFF8E7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68580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54480" y="1005840"/>
            <a:ext cx="457200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11680" y="594360"/>
            <a:ext cx="5303520" cy="38404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011680" y="594360"/>
            <a:ext cx="530352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5943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DAG — Controlled Acyclic Pipeline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48840" y="1051560"/>
            <a:ext cx="5029200" cy="868680"/>
          </a:xfrm>
          <a:prstGeom prst="rect">
            <a:avLst/>
          </a:prstGeom>
          <a:solidFill>
            <a:srgbClr val="E6F4F4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40280" y="109728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Resolver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43400" y="10972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routing + Intent extraction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1920240"/>
            <a:ext cx="0" cy="18288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48840" y="2103120"/>
            <a:ext cx="5029200" cy="868680"/>
          </a:xfrm>
          <a:prstGeom prst="rect">
            <a:avLst/>
          </a:prstGeom>
          <a:solidFill>
            <a:srgbClr val="E6F4F4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240280" y="21488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43400" y="21488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filter + Aggregation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89120" y="2971800"/>
            <a:ext cx="0" cy="18288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48840" y="3154680"/>
            <a:ext cx="5029200" cy="868680"/>
          </a:xfrm>
          <a:prstGeom prst="rect">
            <a:avLst/>
          </a:prstGeom>
          <a:solidFill>
            <a:srgbClr val="E6F4F4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240280" y="32004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43400" y="32004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 + Fallback handling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554480" y="4023360"/>
            <a:ext cx="457200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" y="3749040"/>
            <a:ext cx="1371600" cy="640080"/>
          </a:xfrm>
          <a:prstGeom prst="rect">
            <a:avLst/>
          </a:prstGeom>
          <a:solidFill>
            <a:srgbClr val="E8F5E9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82880" y="37490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98080" y="685800"/>
            <a:ext cx="1463040" cy="731520"/>
          </a:xfrm>
          <a:prstGeom prst="rect">
            <a:avLst/>
          </a:prstGeom>
          <a:solidFill>
            <a:srgbClr val="FFF8E7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8080" y="6858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Index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98080" y="1097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CSV metadata vectors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498080" y="1600200"/>
            <a:ext cx="1463040" cy="731520"/>
          </a:xfrm>
          <a:prstGeom prst="rect">
            <a:avLst/>
          </a:prstGeom>
          <a:solidFill>
            <a:srgbClr val="FFF8E7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98080" y="16002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98080" y="20116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llama-3.3-70b-versatile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498080" y="2514600"/>
            <a:ext cx="1463040" cy="731520"/>
          </a:xfrm>
          <a:prstGeom prst="rect">
            <a:avLst/>
          </a:prstGeom>
          <a:solidFill>
            <a:srgbClr val="FFF8E7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498080" y="25146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98080" y="29260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embeddings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498080" y="3429000"/>
            <a:ext cx="1463040" cy="731520"/>
          </a:xfrm>
          <a:prstGeom prst="rect">
            <a:avLst/>
          </a:prstGeom>
          <a:solidFill>
            <a:srgbClr val="FFF8E7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498080" y="34290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98080" y="38404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+ Summarize modes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DAG Design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— Gaurav Anand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2377440" cy="4114800"/>
          </a:xfrm>
          <a:prstGeom prst="rect">
            <a:avLst/>
          </a:prstGeom>
          <a:solidFill>
            <a:srgbClr val="E6F4F4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640080"/>
            <a:ext cx="237744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640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GraphState (TypedDict)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051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user_query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3990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74650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09397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question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4414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routed_csvs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788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1363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final_response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48386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17520" y="685800"/>
            <a:ext cx="2194560" cy="640080"/>
          </a:xfrm>
          <a:prstGeom prst="rect">
            <a:avLst/>
          </a:prstGeom>
          <a:solidFill>
            <a:srgbClr val="F0A500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017520" y="6858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1325880"/>
            <a:ext cx="0" cy="137160"/>
          </a:xfrm>
          <a:prstGeom prst="line">
            <a:avLst/>
          </a:prstGeom>
          <a:noFill/>
          <a:ln w="19050">
            <a:solidFill>
              <a:srgbClr val="4A627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17520" y="1417320"/>
            <a:ext cx="2194560" cy="640080"/>
          </a:xfrm>
          <a:prstGeom prst="rect">
            <a:avLst/>
          </a:prstGeom>
          <a:solidFill>
            <a:srgbClr val="0D7377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017520" y="14173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Resolver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0" y="2057400"/>
            <a:ext cx="0" cy="137160"/>
          </a:xfrm>
          <a:prstGeom prst="line">
            <a:avLst/>
          </a:prstGeom>
          <a:noFill/>
          <a:ln w="19050">
            <a:solidFill>
              <a:srgbClr val="4A627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17520" y="2423160"/>
            <a:ext cx="2194560" cy="640080"/>
          </a:xfrm>
          <a:prstGeom prst="rect">
            <a:avLst/>
          </a:prstGeom>
          <a:solidFill>
            <a:srgbClr val="0D7377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017520" y="2423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0" y="3063240"/>
            <a:ext cx="0" cy="137160"/>
          </a:xfrm>
          <a:prstGeom prst="line">
            <a:avLst/>
          </a:prstGeom>
          <a:noFill/>
          <a:ln w="19050">
            <a:solidFill>
              <a:srgbClr val="4A627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0" y="3429000"/>
            <a:ext cx="2194560" cy="640080"/>
          </a:xfrm>
          <a:prstGeom prst="rect">
            <a:avLst/>
          </a:prstGeom>
          <a:solidFill>
            <a:srgbClr val="0D7377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017520" y="34290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0" y="4069080"/>
            <a:ext cx="0" cy="137160"/>
          </a:xfrm>
          <a:prstGeom prst="line">
            <a:avLst/>
          </a:prstGeom>
          <a:noFill/>
          <a:ln w="19050">
            <a:solidFill>
              <a:srgbClr val="4A627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17520" y="4343400"/>
            <a:ext cx="2194560" cy="640080"/>
          </a:xfrm>
          <a:prstGeom prst="rect">
            <a:avLst/>
          </a:prstGeom>
          <a:solidFill>
            <a:srgbClr val="2E7D32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017520" y="434340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0" y="1600200"/>
            <a:ext cx="3383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577840" y="16002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top-k lookup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intent + best_csv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12080" y="1892808"/>
            <a:ext cx="274320" cy="0"/>
          </a:xfrm>
          <a:prstGeom prst="line">
            <a:avLst/>
          </a:prstGeom>
          <a:noFill/>
          <a:ln w="12700">
            <a:solidFill>
              <a:srgbClr val="8FA3B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0" y="2606040"/>
            <a:ext cx="3383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577840" y="260604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CSV load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filter + aggregation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212080" y="2898648"/>
            <a:ext cx="274320" cy="0"/>
          </a:xfrm>
          <a:prstGeom prst="line">
            <a:avLst/>
          </a:prstGeom>
          <a:noFill/>
          <a:ln w="12700">
            <a:solidFill>
              <a:srgbClr val="8FA3B1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0" y="3611880"/>
            <a:ext cx="33832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577840" y="36118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draft + validation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on failure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12080" y="3904488"/>
            <a:ext cx="274320" cy="0"/>
          </a:xfrm>
          <a:prstGeom prst="line">
            <a:avLst/>
          </a:prstGeom>
          <a:noFill/>
          <a:ln w="12700">
            <a:solidFill>
              <a:srgbClr val="8FA3B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Acyclic — no loops. Error channel passes through all nodes. Each node writes to shared GraphState.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&amp; Retrieval Strategy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— Gaurav Anand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77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7772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Ingestion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CSVs loaded via Pandas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filename matching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Auto-clean: strip, drop nulls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71800" y="1554480"/>
            <a:ext cx="228600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68580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777240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777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94760" y="7772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Embedding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28016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description per CSV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MiniLM-L6-v2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 normalised vectors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1554480"/>
            <a:ext cx="228600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68580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777240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777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0" y="7772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Routing Index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128016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IndexFlatIP (cosine sim)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vectors — exact search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Persisted: index.faiss + metadata.json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269748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2788920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22960" y="27889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Query-Time Retrieval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32918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user query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top-k candidates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selects best_csv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971800" y="3566160"/>
            <a:ext cx="228600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269748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2788920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794760" y="27889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Extraction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37560" y="32918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routed CSV only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LLM-extracted filters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aggregation for top-N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0" y="3566160"/>
            <a:ext cx="228600" cy="0"/>
          </a:xfrm>
          <a:prstGeom prst="line">
            <a:avLst/>
          </a:prstGeom>
          <a:noFill/>
          <a:ln w="19050">
            <a:solidFill>
              <a:srgbClr val="0D737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2697480"/>
            <a:ext cx="27432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63640" y="2788920"/>
            <a:ext cx="411480" cy="41148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2788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66560" y="27889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09360" y="32918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generates answer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cleans response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on low confidence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decision: FAISS indexes only 7 metadata docs (not rows) — routing via semantic search, extraction via Pandas for accuracy.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to 100GB+ — Architecture Design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— Gaurav Anand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94360"/>
            <a:ext cx="3200400" cy="32004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20440" y="594360"/>
            <a:ext cx="2560320" cy="320040"/>
          </a:xfrm>
          <a:prstGeom prst="rect">
            <a:avLst/>
          </a:prstGeom>
          <a:solidFill>
            <a:srgbClr val="4A6275"/>
          </a:solidFill>
          <a:ln w="12700">
            <a:solidFill>
              <a:srgbClr val="4A62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594360"/>
            <a:ext cx="27432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594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20440" y="5943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(MVP)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72200" y="594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100GB Scale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" y="1005840"/>
            <a:ext cx="3200400" cy="530352"/>
          </a:xfrm>
          <a:prstGeom prst="rect">
            <a:avLst/>
          </a:prstGeom>
          <a:solidFill>
            <a:srgbClr val="E6F4F4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1005840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005840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100584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Layer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11880" y="100584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(local CSV)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100584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/ Databricks / Dask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1627632"/>
            <a:ext cx="3200400" cy="530352"/>
          </a:xfrm>
          <a:prstGeom prst="rect">
            <a:avLst/>
          </a:prstGeom>
          <a:solidFill>
            <a:srgbClr val="FFF8E7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20440" y="1627632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1627632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20040" y="1627632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11880" y="1627632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filesystem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162763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/ Azure Data Lake (Parquet)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2249424"/>
            <a:ext cx="3200400" cy="530352"/>
          </a:xfrm>
          <a:prstGeom prst="rect">
            <a:avLst/>
          </a:prstGeom>
          <a:solidFill>
            <a:srgbClr val="E6F4F4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520440" y="2249424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249424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2249424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Layer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11880" y="224942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in-memory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224942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DuckDB / BigQuery / Snowflake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2871216"/>
            <a:ext cx="3200400" cy="530352"/>
          </a:xfrm>
          <a:prstGeom prst="rect">
            <a:avLst/>
          </a:prstGeom>
          <a:solidFill>
            <a:srgbClr val="FFF8E7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20440" y="2871216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2871216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20040" y="2871216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11880" y="287121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(local)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287121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/ Weaviate (cloud-native)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" y="3493008"/>
            <a:ext cx="3200400" cy="530352"/>
          </a:xfrm>
          <a:prstGeom prst="rect">
            <a:avLst/>
          </a:prstGeom>
          <a:solidFill>
            <a:srgbClr val="E6F4F4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520440" y="3493008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72200" y="3493008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20040" y="3493008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Orchestration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611880" y="349300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Groq calls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63640" y="349300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prompt caching + batching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28600" y="4114800"/>
            <a:ext cx="3200400" cy="530352"/>
          </a:xfrm>
          <a:prstGeom prst="rect">
            <a:avLst/>
          </a:prstGeom>
          <a:solidFill>
            <a:srgbClr val="FFF8E7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520440" y="4114800"/>
            <a:ext cx="25603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172200" y="4114800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320040" y="411480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611880" y="411480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Loguru + LangSmith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63640" y="411480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Datadog / Grafana + LangSmith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Ingest → S3/Parquet → DuckDB partitioned queries → aggregate stats embedded in Pinecone → LLM receives aggregates, not raw rows.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Decisions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— Gaurav Anand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685800"/>
            <a:ext cx="42062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6858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LangGraph?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acyclic DAG with shared GraphState. Every node has explicit input/output contract. Debuggable, auditable, production-grade.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68580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685800"/>
            <a:ext cx="42062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6858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FAISS metadata-only?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00600" y="107899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embedding is slow and noisy for structured data. Embed 7 schema descriptors for routing, use Pandas for deterministic extraction.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10312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103120"/>
            <a:ext cx="42062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103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Groq?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249631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inference for LLaMA3 — near real-time for interactive UI. Cost-effective vs OpenAI for same model tier.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210312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2103120"/>
            <a:ext cx="42062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1031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MiniLM-L6-v2?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249631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22M params, CPU-friendly, 384-dim vectors. Sufficient for routing over 7 documents. Zero GPU/API cost.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352044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3520440"/>
            <a:ext cx="42062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5204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Pandas over PySpark?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391363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is moderate scale. Pandas is simpler and faster to query. PySpark introduced only at 100GB+ scale.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520440"/>
            <a:ext cx="42062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3520440"/>
            <a:ext cx="420624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5204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+ Fallback?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391363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Tenacity decorators on all LLM/IO calls. Exponential backoff. Validator always returns user-safe fallback on failure.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3C5E"/>
          </a:solidFill>
          <a:ln w="12700">
            <a:solidFill>
              <a:srgbClr val="1A3C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Streamlit UI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— Gaurav Anand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685800"/>
            <a:ext cx="4206240" cy="4251960"/>
          </a:xfrm>
          <a:prstGeom prst="rect">
            <a:avLst/>
          </a:prstGeom>
          <a:solidFill>
            <a:srgbClr val="E6F4F4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402336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</p:spPr>
        <p:txBody>
          <a:bodyPr/>
          <a:lstStyle/>
          <a:p>
            <a:endParaRPr lang="en-US" sz="1800" i="1" dirty="0">
              <a:solidFill>
                <a:srgbClr val="8FA3B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4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Chat Q&amp;A Mode</a:t>
            </a:r>
            <a:endParaRPr lang="en-US" sz="1400" dirty="0"/>
          </a:p>
          <a:p>
            <a:endParaRPr lang="en-IN" dirty="0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685800"/>
            <a:ext cx="4206240" cy="4251960"/>
          </a:xfrm>
          <a:prstGeom prst="rect">
            <a:avLst/>
          </a:prstGeom>
          <a:solidFill>
            <a:srgbClr val="E6F4F4"/>
          </a:solidFill>
          <a:ln w="6350">
            <a:solidFill>
              <a:srgbClr val="C9DDE8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Shape 7"/>
          <p:cNvSpPr/>
          <p:nvPr/>
        </p:nvSpPr>
        <p:spPr>
          <a:xfrm>
            <a:off x="4800600" y="777240"/>
            <a:ext cx="4023360" cy="4069080"/>
          </a:xfrm>
          <a:prstGeom prst="rect">
            <a:avLst/>
          </a:prstGeom>
          <a:solidFill>
            <a:srgbClr val="FFFFFF"/>
          </a:solidFill>
          <a:ln w="6350">
            <a:solidFill>
              <a:srgbClr val="C9DDE8"/>
            </a:solidFill>
            <a:prstDash val="solid"/>
          </a:ln>
        </p:spPr>
        <p:txBody>
          <a:bodyPr/>
          <a:lstStyle/>
          <a:p>
            <a:r>
              <a:rPr lang="en-US" sz="18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</a:t>
            </a:r>
          </a:p>
          <a:p>
            <a:pPr algn="ctr"/>
            <a:r>
              <a:rPr lang="en-US" sz="18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Summarize Mode</a:t>
            </a:r>
            <a:endParaRPr lang="en-US" sz="1400" dirty="0"/>
          </a:p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4892040" y="868680"/>
            <a:ext cx="384048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39319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513753F-9334-76AC-8283-5F950E751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130" y="1694768"/>
            <a:ext cx="3822390" cy="192987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8E2A035-3F4A-B408-D27E-47E39119E0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47" y="1484921"/>
            <a:ext cx="3796746" cy="2446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C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630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377440"/>
            <a:ext cx="27432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606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— Gaurav Anand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0" y="31546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Insights Assistant  |  GenAI + LangGraph + FAISS + Groq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371600" y="384048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1E4F72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840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https://github.com/grvanand/Blend_Retail_Insights_Assistant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0" y="384048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1E4F72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3840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0.4.x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943600" y="384048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1E4F72"/>
          </a:solidFill>
          <a:ln w="12700">
            <a:solidFill>
              <a:srgbClr val="2E6F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38404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llama-3.3-70b-versatile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634</Words>
  <Application>Microsoft Office PowerPoint</Application>
  <PresentationFormat>On-screen Show (16:9)</PresentationFormat>
  <Paragraphs>149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Insights Assistant — Architecture</dc:title>
  <dc:subject>PptxGenJS Presentation</dc:subject>
  <dc:creator>Gaurav Anand</dc:creator>
  <cp:lastModifiedBy>Gaurav Anand</cp:lastModifiedBy>
  <cp:revision>4</cp:revision>
  <dcterms:created xsi:type="dcterms:W3CDTF">2026-05-18T23:22:44Z</dcterms:created>
  <dcterms:modified xsi:type="dcterms:W3CDTF">2026-05-18T23:35:48Z</dcterms:modified>
</cp:coreProperties>
</file>